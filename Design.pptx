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2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6B"/>
    <a:srgbClr val="00FF7F"/>
    <a:srgbClr val="6BFF6B"/>
    <a:srgbClr val="094780"/>
    <a:srgbClr val="1F2937"/>
    <a:srgbClr val="215F9A"/>
    <a:srgbClr val="324158"/>
    <a:srgbClr val="CC0000"/>
    <a:srgbClr val="00FF00"/>
    <a:srgbClr val="0B4A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18" autoAdjust="0"/>
  </p:normalViewPr>
  <p:slideViewPr>
    <p:cSldViewPr snapToGrid="0">
      <p:cViewPr varScale="1">
        <p:scale>
          <a:sx n="77" d="100"/>
          <a:sy n="77" d="100"/>
        </p:scale>
        <p:origin x="1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CEF59-C8BF-4A3D-9411-9864962EEC2D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17CA2-C411-4966-8AF2-A7F7EDF18D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39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F64F-CCB8-6B67-71F1-817FF1785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D30E6-F53A-4F3A-E4B5-4C045D3D5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676BE-7789-A2AE-4890-454F832E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AA78B-6D92-AF50-3E9A-C765DE5F4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84A64-A209-E859-991E-AE7C3D85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275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A277-DEB0-E7AA-992E-97C7F90A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6B73-5D52-2747-310B-AE0C6346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7FEE-C698-7EF4-F189-A9CD9729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3396A-46AC-D9A1-8EC9-DB5E52129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87AC5-F423-CA03-8604-733B231B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3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D555-D1C0-A450-EC00-38820693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B9ADD-F534-CBD0-7405-A5BCCE128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8E3F1-F6BC-F956-1D0F-9F0D8D6A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F5C4-2E2D-080A-B914-E30344F2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99E65-04DB-D546-BF07-1B3158EB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3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C366-38F0-1AED-0630-DD4C1077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9BD4-A496-2CB2-1E3C-EED9BB5F1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C02BE-AB53-2713-8FF8-309CE959F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D0E51-DDEC-6D91-A8C9-C2EEE70F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3EA31-45CD-02FB-FF10-AAC3E0E6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5ADE9-E267-1E18-9493-56E16AF6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416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4CC2-CCBE-0A16-FE00-BE55FDA81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6CB1F-4B0B-E68A-82EF-3328CCA93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6A1ED-9623-AD98-C6CB-22AB5C130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3EF9C-3826-17C1-A281-266C96C4A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682BE-B7B4-65B7-5123-C48FC66AF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DF3054-618C-E655-651C-79740377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4DD97-38FE-6F21-0585-7386A574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FDC48-8257-FF73-4776-A1EC9539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12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BF20-E9D7-BB51-BD3B-F6D0F67E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8E1BE-4052-B7B9-426F-1C1CF392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F8F67-8C69-E4B0-1FDF-A3E572A7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70CDE-3BA5-5683-F2A1-8086973C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6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D12B3-6977-EC08-77DD-3C52C0C4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68A12-90C5-BD51-A6C5-313140C2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35C90-1A56-1DB0-2A13-1D6ECAE0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52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97C6-505E-2BA2-0619-89A941B7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1621-209D-355C-FE15-BF4CAE97D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E4FC3-2C29-D77F-1991-9E06E63A4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B7A1F-B543-AC29-B1BE-9B112946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0EEE1-D5F3-A768-DA48-A9CAF60B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6FED8-77D9-5E05-D07C-5E3EAD65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75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1E01-5C3C-0700-827F-6B2ABDB5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F9F67-C816-6B16-D6F5-7CF9BDADB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3CC71-DCCD-DCBE-A1EE-0D9932A55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4FD40-FC0A-B9CE-0754-BE76F08F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656F7-FE9F-7C43-774C-DF145A18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65AD5-7A57-7902-EA36-A57D101E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09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F588-2BBD-08AF-E37D-7FCC3162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B924C-CAF0-822A-FF8B-5DB51ADF5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CBFA5-7DBC-8B2C-227C-3500E852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F7682-D6C3-A6F7-7C5E-63EA2691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40D7E-F151-67CA-451E-8B31E5B3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25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2F6D3-D41B-B46F-2444-E7A9F1F94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000FA-7838-B47D-72B4-C358C0955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D5FBB-E40F-B268-54CF-7A3CA7FA3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7C3F8-05CF-38F4-A33E-90ED9A82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7C20E-7757-5AA3-C487-B49DF052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0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29ED9-A7E3-B3E7-AA6B-80927F3D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E6C7F-7C63-AEE0-558B-5711098B4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3BCB3-BAAE-8073-4689-228EDFD4F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0285A-E4F8-4634-9F1A-EB2FD0527FA2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4D1BD-5E38-DD4E-31D3-AAF9E315E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0D50-4AFF-5EFD-CB24-843AEC8D1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01EA4-7721-41A9-96D1-7969F4F72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81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svg"/><Relationship Id="rId21" Type="http://schemas.openxmlformats.org/officeDocument/2006/relationships/image" Target="../media/image29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5" Type="http://schemas.openxmlformats.org/officeDocument/2006/relationships/image" Target="../media/image33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24" Type="http://schemas.openxmlformats.org/officeDocument/2006/relationships/image" Target="../media/image32.pn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162B1-19ED-276E-8A42-E028FF950B35}"/>
              </a:ext>
            </a:extLst>
          </p:cNvPr>
          <p:cNvSpPr txBox="1"/>
          <p:nvPr/>
        </p:nvSpPr>
        <p:spPr>
          <a:xfrm>
            <a:off x="578960" y="757757"/>
            <a:ext cx="4362329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IN" sz="4000" b="1" spc="3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ChronoPath </a:t>
            </a:r>
            <a:r>
              <a:rPr lang="en-IN" sz="4000" spc="300" dirty="0">
                <a:solidFill>
                  <a:srgbClr val="1F293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Diagnostics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75F550-7364-B89F-19AB-3F9CEF3F4FBA}"/>
              </a:ext>
            </a:extLst>
          </p:cNvPr>
          <p:cNvSpPr/>
          <p:nvPr/>
        </p:nvSpPr>
        <p:spPr>
          <a:xfrm>
            <a:off x="578960" y="2408903"/>
            <a:ext cx="5408886" cy="340196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Performance &amp; TAT Analysis </a:t>
            </a:r>
            <a:r>
              <a:rPr lang="en-IN" sz="32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(2025)</a:t>
            </a:r>
          </a:p>
          <a:p>
            <a:endParaRPr lang="en-IN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dashboard tracks the end-to-end Turn-Around-Time (TAT) for diagnostic tests across 5 Zonal Hubs (Delhi, Mumbai, Kolkata, Bengaluru, Chandigarh)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IN" b="1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Objectives: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Monitor Breach Rates against the 24-hour target.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bottleneck stages in the lab lifecycle.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Analyse regional efficiency gaps.</a:t>
            </a:r>
          </a:p>
          <a:p>
            <a:pPr algn="ctr"/>
            <a:endParaRPr lang="en-IN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6BC88-43DB-E9DB-D0D3-BDE91F08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4166"/>
            <a:ext cx="12192000" cy="365125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Confidential: Internal Operational Data Only. Data Source: ChronoPath LIMS v4.2.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B311A5-AF9B-3760-C417-6C8E4BC1DF99}"/>
              </a:ext>
            </a:extLst>
          </p:cNvPr>
          <p:cNvGrpSpPr/>
          <p:nvPr/>
        </p:nvGrpSpPr>
        <p:grpSpPr>
          <a:xfrm>
            <a:off x="3673643" y="459583"/>
            <a:ext cx="2190443" cy="2293556"/>
            <a:chOff x="4322322" y="2948889"/>
            <a:chExt cx="914400" cy="990761"/>
          </a:xfrm>
          <a:solidFill>
            <a:srgbClr val="1F2937"/>
          </a:solidFill>
        </p:grpSpPr>
        <p:pic>
          <p:nvPicPr>
            <p:cNvPr id="11" name="Graphic 10" descr="Heart with pulse with solid fill">
              <a:extLst>
                <a:ext uri="{FF2B5EF4-FFF2-40B4-BE49-F238E27FC236}">
                  <a16:creationId xmlns:a16="http://schemas.microsoft.com/office/drawing/2014/main" id="{7449EBB7-CCEA-9717-B579-589DF4A05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89061" y="2948889"/>
              <a:ext cx="455062" cy="455062"/>
            </a:xfrm>
            <a:prstGeom prst="rect">
              <a:avLst/>
            </a:prstGeom>
          </p:spPr>
        </p:pic>
        <p:pic>
          <p:nvPicPr>
            <p:cNvPr id="12" name="Graphic 11" descr="Open hand with solid fill">
              <a:extLst>
                <a:ext uri="{FF2B5EF4-FFF2-40B4-BE49-F238E27FC236}">
                  <a16:creationId xmlns:a16="http://schemas.microsoft.com/office/drawing/2014/main" id="{AFCF7B30-C8EE-275E-0F71-9F4E90961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22322" y="302525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562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5C3C4-9A04-F05A-AAD5-6D80F395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2EE6BB-04D8-0C52-C5A7-785D423AAB48}"/>
              </a:ext>
            </a:extLst>
          </p:cNvPr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gradFill flip="none" rotWithShape="1">
            <a:gsLst>
              <a:gs pos="100000">
                <a:srgbClr val="1F2937"/>
              </a:gs>
              <a:gs pos="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300" spc="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Executive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4F314-06DC-7BA7-27B0-8211836E6629}"/>
              </a:ext>
            </a:extLst>
          </p:cNvPr>
          <p:cNvSpPr/>
          <p:nvPr/>
        </p:nvSpPr>
        <p:spPr>
          <a:xfrm>
            <a:off x="0" y="398702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1F2937"/>
              </a:gs>
              <a:gs pos="10000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97511-81B8-7265-260C-89B501C79D89}"/>
              </a:ext>
            </a:extLst>
          </p:cNvPr>
          <p:cNvSpPr txBox="1"/>
          <p:nvPr/>
        </p:nvSpPr>
        <p:spPr>
          <a:xfrm>
            <a:off x="7736531" y="-10764"/>
            <a:ext cx="4362329" cy="44627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000" b="1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ChronoPath </a:t>
            </a:r>
            <a:r>
              <a:rPr lang="en-IN" sz="230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Diagnostics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0C2418-41D8-7DE4-A436-9BD18511FFEC}"/>
              </a:ext>
            </a:extLst>
          </p:cNvPr>
          <p:cNvGrpSpPr/>
          <p:nvPr/>
        </p:nvGrpSpPr>
        <p:grpSpPr>
          <a:xfrm>
            <a:off x="11628951" y="-10764"/>
            <a:ext cx="469909" cy="499716"/>
            <a:chOff x="4322322" y="2948889"/>
            <a:chExt cx="914400" cy="990761"/>
          </a:xfrm>
          <a:solidFill>
            <a:srgbClr val="CC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4" name="Graphic 13" descr="Heart with pulse with solid fill">
              <a:extLst>
                <a:ext uri="{FF2B5EF4-FFF2-40B4-BE49-F238E27FC236}">
                  <a16:creationId xmlns:a16="http://schemas.microsoft.com/office/drawing/2014/main" id="{2F421665-C155-D7B9-C7BD-AA3C4BFC8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89061" y="2948889"/>
              <a:ext cx="455062" cy="455062"/>
            </a:xfrm>
            <a:prstGeom prst="rect">
              <a:avLst/>
            </a:prstGeom>
          </p:spPr>
        </p:pic>
        <p:pic>
          <p:nvPicPr>
            <p:cNvPr id="16" name="Graphic 15" descr="Open hand with solid fill">
              <a:extLst>
                <a:ext uri="{FF2B5EF4-FFF2-40B4-BE49-F238E27FC236}">
                  <a16:creationId xmlns:a16="http://schemas.microsoft.com/office/drawing/2014/main" id="{73C4E738-63F5-005C-E03D-2D96E3EF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22322" y="3025250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A6025AA-8900-6F2C-88C4-37BE9E06EF14}"/>
              </a:ext>
            </a:extLst>
          </p:cNvPr>
          <p:cNvSpPr/>
          <p:nvPr/>
        </p:nvSpPr>
        <p:spPr>
          <a:xfrm>
            <a:off x="0" y="6426000"/>
            <a:ext cx="12192000" cy="432000"/>
          </a:xfrm>
          <a:prstGeom prst="rect">
            <a:avLst/>
          </a:prstGeom>
          <a:gradFill flip="none" rotWithShape="1">
            <a:gsLst>
              <a:gs pos="0">
                <a:srgbClr val="1F2937"/>
              </a:gs>
              <a:gs pos="10000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spc="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Developed by Abhishek Chattaraj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B3FE80-3F9C-1C87-FD29-8307D68C8DC8}"/>
              </a:ext>
            </a:extLst>
          </p:cNvPr>
          <p:cNvSpPr/>
          <p:nvPr/>
        </p:nvSpPr>
        <p:spPr>
          <a:xfrm>
            <a:off x="0" y="6422488"/>
            <a:ext cx="12192000" cy="36000"/>
          </a:xfrm>
          <a:prstGeom prst="rect">
            <a:avLst/>
          </a:prstGeom>
          <a:gradFill flip="none" rotWithShape="1">
            <a:gsLst>
              <a:gs pos="100000">
                <a:srgbClr val="1F2937"/>
              </a:gs>
              <a:gs pos="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7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C59BA-AFC9-3CA3-BCDB-29157CB7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02AC9D-BC70-89C0-4540-162745F2FC50}"/>
              </a:ext>
            </a:extLst>
          </p:cNvPr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gradFill flip="none" rotWithShape="1">
            <a:gsLst>
              <a:gs pos="100000">
                <a:srgbClr val="1F2937"/>
              </a:gs>
              <a:gs pos="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300" spc="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Gap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7ECBD1-5FB1-3DA3-8946-595C16E592ED}"/>
              </a:ext>
            </a:extLst>
          </p:cNvPr>
          <p:cNvSpPr/>
          <p:nvPr/>
        </p:nvSpPr>
        <p:spPr>
          <a:xfrm>
            <a:off x="0" y="398702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1F2937"/>
              </a:gs>
              <a:gs pos="10000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1BC3E-B5CC-0AF9-9B74-B4D2BA498A83}"/>
              </a:ext>
            </a:extLst>
          </p:cNvPr>
          <p:cNvSpPr txBox="1"/>
          <p:nvPr/>
        </p:nvSpPr>
        <p:spPr>
          <a:xfrm>
            <a:off x="7736531" y="-10764"/>
            <a:ext cx="4362329" cy="44627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000" b="1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ChronoPath </a:t>
            </a:r>
            <a:r>
              <a:rPr lang="en-IN" sz="230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Diagnostics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FFF41B-D115-943B-9D96-A3BE7E413692}"/>
              </a:ext>
            </a:extLst>
          </p:cNvPr>
          <p:cNvGrpSpPr/>
          <p:nvPr/>
        </p:nvGrpSpPr>
        <p:grpSpPr>
          <a:xfrm>
            <a:off x="11628951" y="-10764"/>
            <a:ext cx="469909" cy="499716"/>
            <a:chOff x="4322322" y="2948889"/>
            <a:chExt cx="914400" cy="990761"/>
          </a:xfrm>
          <a:solidFill>
            <a:srgbClr val="CC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4" name="Graphic 13" descr="Heart with pulse with solid fill">
              <a:extLst>
                <a:ext uri="{FF2B5EF4-FFF2-40B4-BE49-F238E27FC236}">
                  <a16:creationId xmlns:a16="http://schemas.microsoft.com/office/drawing/2014/main" id="{1109E0C4-254A-96E6-C0CF-C8B3EDD8B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89061" y="2948889"/>
              <a:ext cx="455062" cy="455062"/>
            </a:xfrm>
            <a:prstGeom prst="rect">
              <a:avLst/>
            </a:prstGeom>
          </p:spPr>
        </p:pic>
        <p:pic>
          <p:nvPicPr>
            <p:cNvPr id="16" name="Graphic 15" descr="Open hand with solid fill">
              <a:extLst>
                <a:ext uri="{FF2B5EF4-FFF2-40B4-BE49-F238E27FC236}">
                  <a16:creationId xmlns:a16="http://schemas.microsoft.com/office/drawing/2014/main" id="{4D8C105A-8B5E-B6F2-3746-F30EA7C8A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22322" y="3025250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F555EF0-0103-78B6-0F9B-E158A13C1362}"/>
              </a:ext>
            </a:extLst>
          </p:cNvPr>
          <p:cNvSpPr/>
          <p:nvPr/>
        </p:nvSpPr>
        <p:spPr>
          <a:xfrm>
            <a:off x="0" y="6426000"/>
            <a:ext cx="12192000" cy="432000"/>
          </a:xfrm>
          <a:prstGeom prst="rect">
            <a:avLst/>
          </a:prstGeom>
          <a:gradFill flip="none" rotWithShape="1">
            <a:gsLst>
              <a:gs pos="0">
                <a:srgbClr val="1F2937"/>
              </a:gs>
              <a:gs pos="10000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000" spc="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Developed by Abhishek Chattaraj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53F2CA-87CA-A72B-4F96-688DD2DBBE54}"/>
              </a:ext>
            </a:extLst>
          </p:cNvPr>
          <p:cNvSpPr/>
          <p:nvPr/>
        </p:nvSpPr>
        <p:spPr>
          <a:xfrm>
            <a:off x="0" y="6422488"/>
            <a:ext cx="12192000" cy="36000"/>
          </a:xfrm>
          <a:prstGeom prst="rect">
            <a:avLst/>
          </a:prstGeom>
          <a:gradFill flip="none" rotWithShape="1">
            <a:gsLst>
              <a:gs pos="100000">
                <a:srgbClr val="1F2937"/>
              </a:gs>
              <a:gs pos="0">
                <a:srgbClr val="0947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381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7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01B5C061-F8F1-5086-6A94-40BD7DDE8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030" y="554516"/>
            <a:ext cx="914400" cy="914400"/>
          </a:xfrm>
          <a:prstGeom prst="rect">
            <a:avLst/>
          </a:prstGeom>
        </p:spPr>
      </p:pic>
      <p:pic>
        <p:nvPicPr>
          <p:cNvPr id="7" name="Graphic 6" descr="Magnifying glass with solid fill">
            <a:extLst>
              <a:ext uri="{FF2B5EF4-FFF2-40B4-BE49-F238E27FC236}">
                <a16:creationId xmlns:a16="http://schemas.microsoft.com/office/drawing/2014/main" id="{ACDB7C84-941C-7ACE-D0C5-5F0F53C7B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1688" y="554516"/>
            <a:ext cx="914400" cy="914400"/>
          </a:xfrm>
          <a:prstGeom prst="rect">
            <a:avLst/>
          </a:prstGeom>
        </p:spPr>
      </p:pic>
      <p:pic>
        <p:nvPicPr>
          <p:cNvPr id="3" name="Graphic 2" descr="Inpatient with solid fill">
            <a:extLst>
              <a:ext uri="{FF2B5EF4-FFF2-40B4-BE49-F238E27FC236}">
                <a16:creationId xmlns:a16="http://schemas.microsoft.com/office/drawing/2014/main" id="{B0DDD969-2E71-7804-AF88-20B3B60D9A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8033" y="2514600"/>
            <a:ext cx="914400" cy="914400"/>
          </a:xfrm>
          <a:prstGeom prst="rect">
            <a:avLst/>
          </a:prstGeom>
        </p:spPr>
      </p:pic>
      <p:pic>
        <p:nvPicPr>
          <p:cNvPr id="11" name="Graphic 10" descr="Test tubes with solid fill">
            <a:extLst>
              <a:ext uri="{FF2B5EF4-FFF2-40B4-BE49-F238E27FC236}">
                <a16:creationId xmlns:a16="http://schemas.microsoft.com/office/drawing/2014/main" id="{40E5534B-9D43-1C0D-C0D0-D44307486F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2275" y="2514600"/>
            <a:ext cx="914400" cy="914400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4492682D-0EF1-A8AB-1B84-A4A49A71B7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2514600"/>
            <a:ext cx="914400" cy="91440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EDAD6C76-1B23-7016-300D-55261CA90A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24525" y="2514600"/>
            <a:ext cx="914400" cy="914400"/>
          </a:xfrm>
          <a:prstGeom prst="rect">
            <a:avLst/>
          </a:prstGeom>
        </p:spPr>
      </p:pic>
      <p:pic>
        <p:nvPicPr>
          <p:cNvPr id="14" name="Graphic 13" descr="Upward trend with solid fill">
            <a:extLst>
              <a:ext uri="{FF2B5EF4-FFF2-40B4-BE49-F238E27FC236}">
                <a16:creationId xmlns:a16="http://schemas.microsoft.com/office/drawing/2014/main" id="{50DD97CF-E21F-C93D-1C8D-75157B822D1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91325" y="2514600"/>
            <a:ext cx="914400" cy="9144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0AB70A7-BBDF-2D88-2772-E6A278E7B9BB}"/>
              </a:ext>
            </a:extLst>
          </p:cNvPr>
          <p:cNvGrpSpPr/>
          <p:nvPr/>
        </p:nvGrpSpPr>
        <p:grpSpPr>
          <a:xfrm>
            <a:off x="8757461" y="872124"/>
            <a:ext cx="464979" cy="464979"/>
            <a:chOff x="11633881" y="-20115"/>
            <a:chExt cx="464979" cy="46497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6" name="Graphic 15" descr="Stopwatch 66% with solid fill">
              <a:extLst>
                <a:ext uri="{FF2B5EF4-FFF2-40B4-BE49-F238E27FC236}">
                  <a16:creationId xmlns:a16="http://schemas.microsoft.com/office/drawing/2014/main" id="{2F560507-32F2-F597-0E9A-6CBB03E46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633881" y="-20115"/>
              <a:ext cx="464979" cy="464979"/>
            </a:xfrm>
            <a:prstGeom prst="rect">
              <a:avLst/>
            </a:prstGeom>
            <a:effectLst>
              <a:glow rad="12700">
                <a:schemeClr val="bg1">
                  <a:alpha val="18000"/>
                </a:schemeClr>
              </a:glow>
            </a:effectLst>
          </p:spPr>
        </p:pic>
        <p:pic>
          <p:nvPicPr>
            <p:cNvPr id="17" name="Graphic 16" descr="Medical with solid fill">
              <a:extLst>
                <a:ext uri="{FF2B5EF4-FFF2-40B4-BE49-F238E27FC236}">
                  <a16:creationId xmlns:a16="http://schemas.microsoft.com/office/drawing/2014/main" id="{09966A7B-79FE-BFC2-596A-A0BB85E7A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866371" y="176086"/>
              <a:ext cx="232489" cy="232489"/>
            </a:xfrm>
            <a:prstGeom prst="rect">
              <a:avLst/>
            </a:prstGeom>
            <a:effectLst/>
          </p:spPr>
        </p:pic>
      </p:grpSp>
      <p:pic>
        <p:nvPicPr>
          <p:cNvPr id="18" name="Graphic 17" descr="Care outline">
            <a:extLst>
              <a:ext uri="{FF2B5EF4-FFF2-40B4-BE49-F238E27FC236}">
                <a16:creationId xmlns:a16="http://schemas.microsoft.com/office/drawing/2014/main" id="{4DA860BB-AD71-ABEA-25A4-984759D96A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23144" y="515465"/>
            <a:ext cx="914400" cy="914400"/>
          </a:xfrm>
          <a:prstGeom prst="rect">
            <a:avLst/>
          </a:prstGeom>
        </p:spPr>
      </p:pic>
      <p:pic>
        <p:nvPicPr>
          <p:cNvPr id="20" name="Graphic 19" descr="Heartbeat with solid fill">
            <a:extLst>
              <a:ext uri="{FF2B5EF4-FFF2-40B4-BE49-F238E27FC236}">
                <a16:creationId xmlns:a16="http://schemas.microsoft.com/office/drawing/2014/main" id="{92F4DE00-25A0-7579-D029-427096863A1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98505" y="647414"/>
            <a:ext cx="914400" cy="914400"/>
          </a:xfrm>
          <a:prstGeom prst="rect">
            <a:avLst/>
          </a:prstGeom>
        </p:spPr>
      </p:pic>
      <p:pic>
        <p:nvPicPr>
          <p:cNvPr id="4" name="Graphic 3" descr="Badge Cross with solid fill">
            <a:extLst>
              <a:ext uri="{FF2B5EF4-FFF2-40B4-BE49-F238E27FC236}">
                <a16:creationId xmlns:a16="http://schemas.microsoft.com/office/drawing/2014/main" id="{8AE10231-F1D1-B5DC-08E9-CC2D06E6AB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681663" y="3558208"/>
            <a:ext cx="914400" cy="914400"/>
          </a:xfrm>
          <a:prstGeom prst="rect">
            <a:avLst/>
          </a:prstGeom>
        </p:spPr>
      </p:pic>
      <p:pic>
        <p:nvPicPr>
          <p:cNvPr id="10" name="Graphic 9" descr="Badge Tick1 with solid fill">
            <a:extLst>
              <a:ext uri="{FF2B5EF4-FFF2-40B4-BE49-F238E27FC236}">
                <a16:creationId xmlns:a16="http://schemas.microsoft.com/office/drawing/2014/main" id="{296CE493-C3D5-1878-149E-607DE817D15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465569" y="3558208"/>
            <a:ext cx="914400" cy="914400"/>
          </a:xfrm>
          <a:prstGeom prst="rect">
            <a:avLst/>
          </a:prstGeom>
        </p:spPr>
      </p:pic>
      <p:pic>
        <p:nvPicPr>
          <p:cNvPr id="8" name="Graphic 7" descr="Bar graph with upward trend with solid fill">
            <a:extLst>
              <a:ext uri="{FF2B5EF4-FFF2-40B4-BE49-F238E27FC236}">
                <a16:creationId xmlns:a16="http://schemas.microsoft.com/office/drawing/2014/main" id="{C224C156-E9FD-DBEE-90F1-D65E7D8E58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929716" y="2514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3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954</TotalTime>
  <Words>91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Chattaraj</dc:creator>
  <cp:lastModifiedBy>Abhishek Chattaraj</cp:lastModifiedBy>
  <cp:revision>8</cp:revision>
  <dcterms:created xsi:type="dcterms:W3CDTF">2026-01-11T12:34:59Z</dcterms:created>
  <dcterms:modified xsi:type="dcterms:W3CDTF">2026-01-16T04:39:18Z</dcterms:modified>
</cp:coreProperties>
</file>